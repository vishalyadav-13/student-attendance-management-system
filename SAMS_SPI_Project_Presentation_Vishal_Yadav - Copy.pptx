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AD730A-8DFF-3C88-F38A-655DCAC3CA0F}" v="2" dt="2026-09-22T12:36:59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AD730A-8DFF-3C88-F38A-655DCAC3CA0F}"/>
    <pc:docChg chg="mod modSld addMainMaster delMainMaster">
      <pc:chgData name="Guest User" userId="" providerId="Windows Live" clId="Web-{DDAD730A-8DFF-3C88-F38A-655DCAC3CA0F}" dt="2026-09-22T12:36:59.371" v="1"/>
      <pc:docMkLst>
        <pc:docMk/>
      </pc:docMkLst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56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57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58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59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0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1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2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3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4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5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6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7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8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69"/>
        </pc:sldMkLst>
      </pc:sldChg>
      <pc:sldChg chg="mod modClrScheme chgLayout">
        <pc:chgData name="Guest User" userId="" providerId="Windows Live" clId="Web-{DDAD730A-8DFF-3C88-F38A-655DCAC3CA0F}" dt="2026-09-22T12:36:59.371" v="1"/>
        <pc:sldMkLst>
          <pc:docMk/>
          <pc:sldMk cId="0" sldId="270"/>
        </pc:sldMkLst>
      </pc:sldChg>
      <pc:sldMasterChg chg="del delSldLayout">
        <pc:chgData name="Guest User" userId="" providerId="Windows Live" clId="Web-{DDAD730A-8DFF-3C88-F38A-655DCAC3CA0F}" dt="2026-09-22T12:35:12.633" v="0"/>
        <pc:sldMasterMkLst>
          <pc:docMk/>
          <pc:sldMasterMk cId="2209977519" sldId="2147483648"/>
        </pc:sldMasterMkLst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Guest User" userId="" providerId="Windows Live" clId="Web-{DDAD730A-8DFF-3C88-F38A-655DCAC3CA0F}" dt="2026-09-22T12:35:12.633" v="0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Guest User" userId="" providerId="Windows Live" clId="Web-{DDAD730A-8DFF-3C88-F38A-655DCAC3CA0F}" dt="2026-09-22T12:36:59.371" v="1"/>
        <pc:sldMasterMkLst>
          <pc:docMk/>
          <pc:sldMasterMk cId="1486278462" sldId="2147483660"/>
        </pc:sldMasterMkLst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2599645461" sldId="2147483661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1667774369" sldId="2147483662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2839044445" sldId="2147483663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1495672017" sldId="2147483664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4185369465" sldId="2147483665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1775367674" sldId="2147483666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256380342" sldId="2147483667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232955436" sldId="2147483668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893457357" sldId="2147483669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79616415" sldId="2147483670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2908966232" sldId="2147483671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40278030" sldId="2147483672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2898781628" sldId="2147483673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2757176844" sldId="2147483674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094859571" sldId="2147483675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01288297" sldId="2147483676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2858536563" sldId="2147483677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1656070290" sldId="2147483678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778034219" sldId="2147483679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888636651" sldId="2147483680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590555928" sldId="2147483681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938123244" sldId="2147483682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983926648" sldId="2147483683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090194852" sldId="2147483684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866833750" sldId="2147483685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988530663" sldId="2147483686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2814904200" sldId="2147483687"/>
          </pc:sldLayoutMkLst>
        </pc:sldLayoutChg>
        <pc:sldLayoutChg chg="add del mod replId">
          <pc:chgData name="Guest User" userId="" providerId="Windows Live" clId="Web-{DDAD730A-8DFF-3C88-F38A-655DCAC3CA0F}" dt="2026-09-22T12:36:59.371" v="1"/>
          <pc:sldLayoutMkLst>
            <pc:docMk/>
            <pc:sldMasterMk cId="1486278462" sldId="2147483660"/>
            <pc:sldLayoutMk cId="3617314102" sldId="2147483688"/>
          </pc:sldLayoutMkLst>
        </pc:sldLayoutChg>
      </pc:sldMasterChg>
      <pc:sldMasterChg chg="add addSldLayout modSldLayout">
        <pc:chgData name="Guest User" userId="" providerId="Windows Live" clId="Web-{DDAD730A-8DFF-3C88-F38A-655DCAC3CA0F}" dt="2026-09-22T12:36:59.371" v="1"/>
        <pc:sldMasterMkLst>
          <pc:docMk/>
          <pc:sldMasterMk cId="1255240425" sldId="2147483689"/>
        </pc:sldMasterMkLst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542416832" sldId="2147483690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3220473309" sldId="2147483691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1092558840" sldId="2147483692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198277805" sldId="2147483693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493768300" sldId="2147483694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170490446" sldId="2147483695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1853806243" sldId="2147483696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1363623713" sldId="2147483697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845785051" sldId="2147483698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866600625" sldId="2147483699"/>
          </pc:sldLayoutMkLst>
        </pc:sldLayoutChg>
        <pc:sldLayoutChg chg="add mod replId">
          <pc:chgData name="Guest User" userId="" providerId="Windows Live" clId="Web-{DDAD730A-8DFF-3C88-F38A-655DCAC3CA0F}" dt="2026-09-22T12:36:59.371" v="1"/>
          <pc:sldLayoutMkLst>
            <pc:docMk/>
            <pc:sldMasterMk cId="1255240425" sldId="2147483689"/>
            <pc:sldLayoutMk cId="1437359137" sldId="2147483700"/>
          </pc:sldLayoutMkLst>
        </pc:sldLayoutChg>
      </pc:sldMasterChg>
    </pc:docChg>
  </pc:docChgLst>
  <pc:docChgLst>
    <pc:chgData name="Vishal Yadav" userId="a0868e5043ebd45e" providerId="LiveId" clId="{09E62C45-61CE-4BBE-8A59-B3711700A4E8}"/>
    <pc:docChg chg="modSld">
      <pc:chgData name="Vishal Yadav" userId="a0868e5043ebd45e" providerId="LiveId" clId="{09E62C45-61CE-4BBE-8A59-B3711700A4E8}" dt="2026-09-23T09:04:35.972" v="10" actId="20577"/>
      <pc:docMkLst>
        <pc:docMk/>
      </pc:docMkLst>
      <pc:sldChg chg="modSp mod">
        <pc:chgData name="Vishal Yadav" userId="a0868e5043ebd45e" providerId="LiveId" clId="{09E62C45-61CE-4BBE-8A59-B3711700A4E8}" dt="2026-09-23T09:04:35.972" v="10" actId="20577"/>
        <pc:sldMkLst>
          <pc:docMk/>
          <pc:sldMk cId="0" sldId="256"/>
        </pc:sldMkLst>
        <pc:spChg chg="mod">
          <ac:chgData name="Vishal Yadav" userId="a0868e5043ebd45e" providerId="LiveId" clId="{09E62C45-61CE-4BBE-8A59-B3711700A4E8}" dt="2026-09-23T09:04:35.972" v="10" actId="20577"/>
          <ac:spMkLst>
            <pc:docMk/>
            <pc:sldMk cId="0" sldId="256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16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47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5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77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76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80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2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78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60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5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24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98079" y="1005840"/>
            <a:ext cx="3962095" cy="4937760"/>
          </a:xfrm>
          <a:prstGeom prst="roundRect">
            <a:avLst/>
          </a:prstGeom>
          <a:solidFill>
            <a:srgbClr val="242B28"/>
          </a:solidFill>
          <a:ln w="1905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18120" y="1234440"/>
            <a:ext cx="3322015" cy="50292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✦  EMERGING TECH: AI &amp; COMPUTER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874519"/>
            <a:ext cx="3322015" cy="868680"/>
          </a:xfrm>
          <a:prstGeom prst="roundRect">
            <a:avLst/>
          </a:prstGeom>
          <a:solidFill>
            <a:srgbClr val="1E2422"/>
          </a:solidFill>
          <a:ln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rtlCol="0" anchor="ctr"/>
          <a:lstStyle/>
          <a:p>
            <a:pPr algn="ctr">
              <a:defRPr sz="1100" b="1">
                <a:solidFill>
                  <a:srgbClr val="95B290"/>
                </a:solidFill>
                <a:latin typeface="Segoe UI"/>
              </a:defRPr>
            </a:pPr>
            <a:r>
              <a:t>• AI Face Recognition Engine</a:t>
            </a:r>
          </a:p>
          <a:p>
            <a:pPr>
              <a:defRPr sz="950">
                <a:solidFill>
                  <a:srgbClr val="CBD4CF"/>
                </a:solidFill>
                <a:latin typeface="Segoe UI"/>
              </a:defRPr>
            </a:pPr>
            <a:r>
              <a:t>CompreFace biometric landmark detection &amp; server-side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862071"/>
            <a:ext cx="3322015" cy="868680"/>
          </a:xfrm>
          <a:prstGeom prst="roundRect">
            <a:avLst/>
          </a:prstGeom>
          <a:solidFill>
            <a:srgbClr val="1E2422"/>
          </a:solidFill>
          <a:ln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rtlCol="0" anchor="ctr"/>
          <a:lstStyle/>
          <a:p>
            <a:pPr algn="ctr">
              <a:defRPr sz="1100" b="1">
                <a:solidFill>
                  <a:srgbClr val="95B290"/>
                </a:solidFill>
                <a:latin typeface="Segoe UI"/>
              </a:defRPr>
            </a:pPr>
            <a:r>
              <a:t>• Centralized Cloud Architecture</a:t>
            </a:r>
          </a:p>
          <a:p>
            <a:pPr>
              <a:defRPr sz="950">
                <a:solidFill>
                  <a:srgbClr val="CBD4CF"/>
                </a:solidFill>
                <a:latin typeface="Segoe UI"/>
              </a:defRPr>
            </a:pPr>
            <a:r>
              <a:t>Vercel edge static frontend + Render containerized PHP 8.2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849623"/>
            <a:ext cx="3322015" cy="868680"/>
          </a:xfrm>
          <a:prstGeom prst="roundRect">
            <a:avLst/>
          </a:prstGeom>
          <a:solidFill>
            <a:srgbClr val="1E2422"/>
          </a:solidFill>
          <a:ln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rtlCol="0" anchor="ctr"/>
          <a:lstStyle/>
          <a:p>
            <a:pPr algn="ctr">
              <a:defRPr sz="1100" b="1">
                <a:solidFill>
                  <a:srgbClr val="95B290"/>
                </a:solidFill>
                <a:latin typeface="Segoe UI"/>
              </a:defRPr>
            </a:pPr>
            <a:r>
              <a:t>• Relational Data Management</a:t>
            </a:r>
          </a:p>
          <a:p>
            <a:pPr>
              <a:defRPr sz="950">
                <a:solidFill>
                  <a:srgbClr val="CBD4CF"/>
                </a:solidFill>
                <a:latin typeface="Segoe UI"/>
              </a:defRPr>
            </a:pPr>
            <a:r>
              <a:t>PostgreSQL database with strict RBAC, audit trails &amp; unique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837175"/>
            <a:ext cx="3322015" cy="868680"/>
          </a:xfrm>
          <a:prstGeom prst="roundRect">
            <a:avLst/>
          </a:prstGeom>
          <a:solidFill>
            <a:srgbClr val="1E2422"/>
          </a:solidFill>
          <a:ln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rtlCol="0" anchor="ctr"/>
          <a:lstStyle/>
          <a:p>
            <a:pPr algn="ctr">
              <a:defRPr sz="1100" b="1">
                <a:solidFill>
                  <a:srgbClr val="95B290"/>
                </a:solidFill>
                <a:latin typeface="Segoe UI"/>
              </a:defRPr>
            </a:pPr>
            <a:r>
              <a:t>• Automated Academic Workflows</a:t>
            </a:r>
          </a:p>
          <a:p>
            <a:pPr>
              <a:defRPr sz="950">
                <a:solidFill>
                  <a:srgbClr val="CBD4CF"/>
                </a:solidFill>
                <a:latin typeface="Segoe UI"/>
              </a:defRPr>
            </a:pPr>
            <a:r>
              <a:t>Teacher session studio, instant roll-call, and compliance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6217920" cy="384048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5B290"/>
                </a:solidFill>
                <a:latin typeface="Segoe UI"/>
              </a:defRPr>
            </a:pPr>
            <a:r>
              <a:t>MSBTE DIPLOMA IN COMPUTER ENGINEERING  |  SEMINAR &amp; PROJECT INITIATION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64008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4EFE6"/>
                </a:solidFill>
                <a:latin typeface="Segoe UI"/>
              </a:defRPr>
            </a:pPr>
            <a:r>
              <a:t>STUDENT ATTENDANCE</a:t>
            </a:r>
            <a:br/>
            <a:r>
              <a:t>MANAGEMENT SYSTEM (SAMS)</a:t>
            </a:r>
          </a:p>
          <a:p>
            <a:pPr>
              <a:defRPr sz="1400" b="1">
                <a:solidFill>
                  <a:srgbClr val="99B3C6"/>
                </a:solidFill>
                <a:latin typeface="Segoe UI"/>
              </a:defRPr>
            </a:pPr>
            <a:r>
              <a:t>Subject: Seminar &amp; Project Initiation</a:t>
            </a:r>
            <a:br/>
            <a:r>
              <a:t>Topic: Emerging Trends in Technology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6400800" cy="1965960"/>
          </a:xfrm>
          <a:prstGeom prst="roundRect">
            <a:avLst/>
          </a:prstGeom>
          <a:solidFill>
            <a:srgbClr val="242B28"/>
          </a:solidFill>
          <a:ln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0116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95B290"/>
                </a:solidFill>
                <a:latin typeface="Segoe UI"/>
              </a:defRPr>
            </a:pPr>
            <a:r>
              <a:t>Presented by:</a:t>
            </a:r>
          </a:p>
          <a:p>
            <a:pPr>
              <a:spcAft>
                <a:spcPts val="500"/>
              </a:spcAft>
              <a:defRPr sz="1200" b="1">
                <a:solidFill>
                  <a:srgbClr val="95B290"/>
                </a:solidFill>
                <a:latin typeface="Segoe UI"/>
              </a:defRPr>
            </a:pPr>
            <a:r>
              <a:t>Class / Branch:</a:t>
            </a:r>
          </a:p>
          <a:p>
            <a:pPr>
              <a:spcAft>
                <a:spcPts val="500"/>
              </a:spcAft>
              <a:defRPr sz="1200" b="1">
                <a:solidFill>
                  <a:srgbClr val="95B290"/>
                </a:solidFill>
                <a:latin typeface="Segoe UI"/>
              </a:defRPr>
            </a:pPr>
            <a:r>
              <a:t>Enrollment No.:</a:t>
            </a:r>
          </a:p>
          <a:p>
            <a:pPr>
              <a:spcAft>
                <a:spcPts val="500"/>
              </a:spcAft>
              <a:defRPr sz="1200" b="1">
                <a:solidFill>
                  <a:srgbClr val="95B290"/>
                </a:solidFill>
                <a:latin typeface="Segoe UI"/>
              </a:defRPr>
            </a:pPr>
            <a:r>
              <a:t>Academic Year: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114800"/>
            <a:ext cx="3840480" cy="97719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4EFE6"/>
                </a:solidFill>
                <a:latin typeface="Segoe UI"/>
              </a:defRPr>
            </a:pPr>
            <a:r>
              <a:rPr dirty="0"/>
              <a:t>Vishal Yadav</a:t>
            </a:r>
          </a:p>
          <a:p>
            <a:pPr>
              <a:spcAft>
                <a:spcPts val="500"/>
              </a:spcAft>
              <a:defRPr sz="1200" b="0">
                <a:solidFill>
                  <a:srgbClr val="F4EFE6"/>
                </a:solidFill>
                <a:latin typeface="Segoe UI"/>
              </a:defRPr>
            </a:pPr>
            <a:r>
              <a:rPr dirty="0"/>
              <a:t>CO5K  (Computer Engineering)</a:t>
            </a:r>
          </a:p>
          <a:p>
            <a:pPr>
              <a:spcAft>
                <a:spcPts val="500"/>
              </a:spcAft>
              <a:defRPr sz="1200" b="1">
                <a:solidFill>
                  <a:srgbClr val="F4EFE6"/>
                </a:solidFill>
                <a:latin typeface="Segoe UI"/>
              </a:defRPr>
            </a:pPr>
            <a:r>
              <a:rPr dirty="0"/>
              <a:t>_</a:t>
            </a:r>
            <a:r>
              <a:rPr lang="en-IN" dirty="0"/>
              <a:t>24112230169</a:t>
            </a:r>
            <a:r>
              <a:rPr dirty="0"/>
              <a:t>_______________</a:t>
            </a:r>
          </a:p>
          <a:p>
            <a:pPr>
              <a:spcAft>
                <a:spcPts val="500"/>
              </a:spcAft>
              <a:defRPr sz="1200" b="0">
                <a:solidFill>
                  <a:srgbClr val="F4EFE6"/>
                </a:solidFill>
                <a:latin typeface="Segoe UI"/>
              </a:defRPr>
            </a:pPr>
            <a:r>
              <a:rPr dirty="0"/>
              <a:t>2026 –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1. INTRODUCTION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1. Introduction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Overview of Academic Attendance Management &amp; SAMS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• Indispensable Academic Process: </a:t>
            </a:r>
            <a:r>
              <a:rPr sz="1000" b="0">
                <a:solidFill>
                  <a:srgbClr val="F4EFE6"/>
                </a:solidFill>
                <a:latin typeface="Segoe UI"/>
              </a:rPr>
              <a:t>Attendance is an important part of academic management, directly influencing student discipline, accreditation, and eligibility.</a:t>
            </a:r>
          </a:p>
          <a:p>
            <a:pPr>
              <a:spcAft>
                <a:spcPts val="6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• Manual Effort Challenges: </a:t>
            </a:r>
            <a:r>
              <a:rPr sz="1000" b="0">
                <a:solidFill>
                  <a:srgbClr val="F4EFE6"/>
                </a:solidFill>
                <a:latin typeface="Segoe UI"/>
              </a:rPr>
              <a:t>Traditional attendance methods require continuous manual effort from teachers for roll-call and record-keeping.</a:t>
            </a:r>
          </a:p>
          <a:p>
            <a:pPr>
              <a:spcAft>
                <a:spcPts val="6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• Instructional Time Loss: </a:t>
            </a:r>
            <a:r>
              <a:rPr sz="1000" b="0">
                <a:solidFill>
                  <a:srgbClr val="F4EFE6"/>
                </a:solidFill>
                <a:latin typeface="Segoe UI"/>
              </a:rPr>
              <a:t>Manual roll-call consumes valuable classroom lecture time and remains susceptible to human recording errors.</a:t>
            </a:r>
          </a:p>
          <a:p>
            <a:pPr>
              <a:spcAft>
                <a:spcPts val="6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• Centralized Digital Management: </a:t>
            </a:r>
            <a:r>
              <a:rPr sz="1000" b="0">
                <a:solidFill>
                  <a:srgbClr val="F4EFE6"/>
                </a:solidFill>
                <a:latin typeface="Segoe UI"/>
              </a:rPr>
              <a:t>SAMS provides a centralized digital system for efficiently managing student attendance across institutes.</a:t>
            </a:r>
          </a:p>
          <a:p>
            <a:pPr>
              <a:spcAft>
                <a:spcPts val="6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• Comprehensive Academic Workflows: </a:t>
            </a:r>
            <a:r>
              <a:rPr sz="1000" b="0">
                <a:solidFill>
                  <a:srgbClr val="F4EFE6"/>
                </a:solidFill>
                <a:latin typeface="Segoe UI"/>
              </a:rPr>
              <a:t>The system supports complete student management, teacher workflows, attendance recording, and analytics.</a:t>
            </a:r>
          </a:p>
          <a:p>
            <a:pPr>
              <a:spcAft>
                <a:spcPts val="6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• AI Face Recognition Integration: </a:t>
            </a:r>
            <a:r>
              <a:rPr sz="1000" b="0">
                <a:solidFill>
                  <a:srgbClr val="F4EFE6"/>
                </a:solidFill>
                <a:latin typeface="Segoe UI"/>
              </a:rPr>
              <a:t>The project explores the use of AI-based face recognition to automate student attendance verification.</a:t>
            </a:r>
          </a:p>
          <a:p>
            <a:pPr>
              <a:spcAft>
                <a:spcPts val="6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• Web-Based Modern Accessibility: </a:t>
            </a:r>
            <a:r>
              <a:rPr sz="1000" b="0">
                <a:solidFill>
                  <a:srgbClr val="F4EFE6"/>
                </a:solidFill>
                <a:latin typeface="Segoe UI"/>
              </a:rPr>
              <a:t>Designed as a modern web-based application, accessible across campus devices without specialized client installs.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596335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2440" y="1691640"/>
            <a:ext cx="3139135" cy="41148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95B290"/>
                </a:solidFill>
                <a:latin typeface="Segoe UI"/>
              </a:defRPr>
            </a:pPr>
            <a:r>
              <a:t>SAMS OPERATIONAL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240280"/>
            <a:ext cx="3139135" cy="713232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defRPr sz="1050" b="1">
                <a:solidFill>
                  <a:srgbClr val="7E94A8"/>
                </a:solidFill>
                <a:latin typeface="Segoe UI"/>
              </a:defRPr>
            </a:pPr>
            <a:r>
              <a:t>1. Faculty / Teacher</a:t>
            </a:r>
          </a:p>
          <a:p>
            <a:pPr>
              <a:defRPr sz="900">
                <a:solidFill>
                  <a:srgbClr val="CBD4CF"/>
                </a:solidFill>
                <a:latin typeface="Segoe UI"/>
              </a:defRPr>
            </a:pPr>
            <a:r>
              <a:t>Creates lecture session &amp; selects class division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528048" y="2953512"/>
            <a:ext cx="274320" cy="164592"/>
          </a:xfrm>
          <a:prstGeom prst="downArrow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92440" y="3191256"/>
            <a:ext cx="3139135" cy="713232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defRPr sz="1050" b="1">
                <a:solidFill>
                  <a:srgbClr val="95B290"/>
                </a:solidFill>
                <a:latin typeface="Segoe UI"/>
              </a:defRPr>
            </a:pPr>
            <a:r>
              <a:t>2. SAMS Platform</a:t>
            </a:r>
          </a:p>
          <a:p>
            <a:pPr>
              <a:defRPr sz="900">
                <a:solidFill>
                  <a:srgbClr val="CBD4CF"/>
                </a:solidFill>
                <a:latin typeface="Segoe UI"/>
              </a:defRPr>
            </a:pPr>
            <a:r>
              <a:t>Loads active roster &amp; coordinates verification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528048" y="3904488"/>
            <a:ext cx="274320" cy="164592"/>
          </a:xfrm>
          <a:prstGeom prst="downArrow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4142232"/>
            <a:ext cx="3139135" cy="713232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defRPr sz="1050" b="1">
                <a:solidFill>
                  <a:srgbClr val="6FA574"/>
                </a:solidFill>
                <a:latin typeface="Segoe UI"/>
              </a:defRPr>
            </a:pPr>
            <a:r>
              <a:t>3. Student Attendance</a:t>
            </a:r>
          </a:p>
          <a:p>
            <a:pPr>
              <a:defRPr sz="900">
                <a:solidFill>
                  <a:srgbClr val="CBD4CF"/>
                </a:solidFill>
                <a:latin typeface="Segoe UI"/>
              </a:defRPr>
            </a:pPr>
            <a:r>
              <a:t>Recorded via AI Face Recognition or Manual Grid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528048" y="4855464"/>
            <a:ext cx="274320" cy="164592"/>
          </a:xfrm>
          <a:prstGeom prst="downArrow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5093208"/>
            <a:ext cx="3139135" cy="713232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defRPr sz="1050" b="1">
                <a:solidFill>
                  <a:srgbClr val="99B3C6"/>
                </a:solidFill>
                <a:latin typeface="Segoe UI"/>
              </a:defRPr>
            </a:pPr>
            <a:r>
              <a:t>4. Reports &amp; Analytics</a:t>
            </a:r>
          </a:p>
          <a:p>
            <a:pPr>
              <a:defRPr sz="900">
                <a:solidFill>
                  <a:srgbClr val="CBD4CF"/>
                </a:solidFill>
                <a:latin typeface="Segoe UI"/>
              </a:defRPr>
            </a:pPr>
            <a:r>
              <a:t>Stored in PostgreSQL &amp; available for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2. EMERGING TECHNOLOGY USED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2. Emerging Technology Used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Core Technological Pillars &amp; Rationale for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01168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95B290"/>
                </a:solidFill>
                <a:latin typeface="Segoe UI"/>
              </a:defRPr>
            </a:pPr>
            <a:r>
              <a:t>Artificial Intelligence / Computer Vision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Face detection and landmark extraction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Biometric identity verification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Automated attendance verification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Reduces human verification delays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42255" cy="201168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7E94A8"/>
                </a:solidFill>
                <a:latin typeface="Segoe UI"/>
              </a:defRPr>
            </a:pPr>
            <a:r>
              <a:t>Cloud Computing Architecture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Cloud-hosted frontend (Vercel CDN edge)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Cloud-hosted backend (Render container)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Remote managed PostgreSQL database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Accessible across entire campus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5212080" cy="19202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99B3C6"/>
                </a:solidFill>
                <a:latin typeface="Segoe UI"/>
              </a:defRPr>
            </a:pPr>
            <a:r>
              <a:t>Modern Web Technologies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Frontend: HTML5, CSS3, Vanilla JS (ES6+)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Backend: PHP 8.2+ RESTful routing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Database: PostgreSQL 13+ relational engine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Stateless JWT tokens &amp; secure session guards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66160"/>
            <a:ext cx="5242255" cy="19202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6FA574"/>
                </a:solidFill>
                <a:latin typeface="Segoe UI"/>
              </a:defRPr>
            </a:pPr>
            <a:r>
              <a:t>Face Recognition Service (CompreFace)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CompreFace open-source recognition engine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Server-side face recognition architecture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Secure mathematical vector matching</a:t>
            </a:r>
          </a:p>
          <a:p>
            <a:pPr>
              <a:spcAft>
                <a:spcPts val="2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High accuracy without client credential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tlCol="0" anchor="ctr"/>
          <a:lstStyle/>
          <a:p>
            <a:pPr algn="ctr">
              <a:defRPr sz="1050" b="1">
                <a:solidFill>
                  <a:srgbClr val="95B290"/>
                </a:solidFill>
                <a:latin typeface="Segoe UI"/>
              </a:defRPr>
            </a:pPr>
            <a:r>
              <a:t>WHY THESE TECHNOLOGIES?  </a:t>
            </a:r>
            <a:r>
              <a:rPr sz="1000" b="0">
                <a:solidFill>
                  <a:srgbClr val="F4EFE6"/>
                </a:solidFill>
                <a:latin typeface="Segoe UI"/>
              </a:rPr>
              <a:t>Reduces manual attendance work  |  Improves automation  |  Faster identity verification  |  Centralized digital records  |  Universal web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3. PROBLEM STATEMENT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3. Problem Statement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Comparison: Existing Manual System vs. Proposed SAMS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39319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C48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C4856A"/>
                </a:solidFill>
                <a:latin typeface="Segoe UI"/>
              </a:defRPr>
            </a:pPr>
            <a:r>
              <a:t>EXISTING SYSTEM  (Traditional / Manual)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✖  Attendance is recorded manually on paper registers or loose sheets.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✖  Teachers spend 10–15 minutes of precious classroom time taking attendance.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✖  Manual roll-call and manual entry frequently lead to human recording errors.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✖  Searching historical attendance records and compiling monthly totals is tedious.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✖  Generating compliance and semester reports requires extensive manual effort.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✖  Manual attendance does not provide automated identity verification or proxy prevention.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39319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6FA574"/>
                </a:solidFill>
                <a:latin typeface="Segoe UI"/>
              </a:defRPr>
            </a:pPr>
            <a:r>
              <a:t>PROPOSED SYSTEM  (SAMS Centralized Platform)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✔  Centralized web-based Student Attendance Management System.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✔  Structured PostgreSQL database eliminating paper registers completely.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✔  Streamlined teacher-based attendance workflow saving lecture hours.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✔  Automated AI face verification option for instant, contactless identity check.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✔  Instant attendance percentage reports, analytics, and 75% shortage alarms.</a:t>
            </a:r>
          </a:p>
          <a:p>
            <a:pPr>
              <a:spcAft>
                <a:spcPts val="400"/>
              </a:spcAft>
              <a:defRPr sz="1050">
                <a:solidFill>
                  <a:srgbClr val="F4EFE6"/>
                </a:solidFill>
                <a:latin typeface="Segoe UI"/>
              </a:defRPr>
            </a:pPr>
            <a:r>
              <a:t>✔  Role-based access control (RBAC) securely separating Admin and Teacher privileges.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1E2422"/>
          </a:solidFill>
          <a:ln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1100" b="1">
                <a:solidFill>
                  <a:srgbClr val="C4856A"/>
                </a:solidFill>
                <a:latin typeface="Segoe UI"/>
              </a:rPr>
              <a:t>EXISTING: Manual  ➔  Slow  ➔  Error-Prone  ➔  Paper Registers</a:t>
            </a:r>
            <a:r>
              <a:rPr sz="1100" b="1">
                <a:solidFill>
                  <a:srgbClr val="8A9992"/>
                </a:solidFill>
                <a:latin typeface="Segoe UI"/>
              </a:rPr>
              <a:t>     VS     </a:t>
            </a:r>
            <a:r>
              <a:rPr sz="1100" b="1">
                <a:solidFill>
                  <a:srgbClr val="6FA574"/>
                </a:solidFill>
                <a:latin typeface="Segoe UI"/>
              </a:rPr>
              <a:t>PROPOSED: Digital  ➔  Automated  ➔  Centralized  ➔  Verified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4. OBJECTIVES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4. Objectives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Core Technical &amp; Academic Goals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[1] Centralized System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Develop a centralized web-based student attendance management system for academic institutes.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[2] Reduce Manual Effort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Significantly reduce manual roll-call effort and eliminate paper-based record maintenance.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[3] Role-Based Security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Provide secure student and teacher management with role-based access control (RBAC).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[4] Structured Database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Maintain institutional attendance records in a secure, structured PostgreSQL relational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[5] Reliable Manual Workflow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Provide an intuitive manual grid attendance marking workflow as a reliable standard and backup.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[6] AI Face Verification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Integrate AI-based face recognition to enable automated, contactless student attendance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[7] Reports &amp; Statistics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Generate comprehensive attendance reports, subject summaries, and student shortage statistics.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[8] Accuracy &amp; Efficiency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Improve institutional efficiency and eliminate human errors and proxy attendance risks.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[9] Future Foundation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Establish a scalable technical foundation for future intelligent academic campus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5. PROPOSED SYSTEM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5. Proposed System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High-Level Architecture &amp; End-to-End System Organization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243584" cy="11430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01600" rIns="50800" rtlCol="0" anchor="ctr"/>
          <a:lstStyle/>
          <a:p>
            <a:pPr algn="ctr">
              <a:defRPr sz="850" b="1">
                <a:solidFill>
                  <a:srgbClr val="7E94A8"/>
                </a:solidFill>
                <a:latin typeface="Segoe UI"/>
              </a:defRPr>
            </a:pPr>
            <a:r>
              <a:t>Step 1</a:t>
            </a:r>
          </a:p>
          <a:p>
            <a:pPr algn="ctr">
              <a:defRPr sz="1000" b="1">
                <a:solidFill>
                  <a:srgbClr val="F4EFE6"/>
                </a:solidFill>
                <a:latin typeface="Segoe UI"/>
              </a:defRPr>
            </a:pPr>
            <a:r>
              <a:t>Admin / Teacher</a:t>
            </a:r>
          </a:p>
          <a:p>
            <a:pPr algn="ctr">
              <a:defRPr sz="800">
                <a:solidFill>
                  <a:srgbClr val="CBD4CF"/>
                </a:solidFill>
                <a:latin typeface="Segoe UI"/>
              </a:defRPr>
            </a:pPr>
            <a:r>
              <a:t>Authorized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4832" y="1417320"/>
            <a:ext cx="1243584" cy="11430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01600" rIns="50800" rtlCol="0" anchor="ctr"/>
          <a:lstStyle/>
          <a:p>
            <a:pPr algn="ctr">
              <a:defRPr sz="850" b="1">
                <a:solidFill>
                  <a:srgbClr val="99B3C6"/>
                </a:solidFill>
                <a:latin typeface="Segoe UI"/>
              </a:defRPr>
            </a:pPr>
            <a:r>
              <a:t>Step 2</a:t>
            </a:r>
          </a:p>
          <a:p>
            <a:pPr algn="ctr">
              <a:defRPr sz="1000" b="1">
                <a:solidFill>
                  <a:srgbClr val="F4EFE6"/>
                </a:solidFill>
                <a:latin typeface="Segoe UI"/>
              </a:defRPr>
            </a:pPr>
            <a:r>
              <a:t>Web Interface</a:t>
            </a:r>
          </a:p>
          <a:p>
            <a:pPr algn="ctr">
              <a:defRPr sz="800">
                <a:solidFill>
                  <a:srgbClr val="CBD4CF"/>
                </a:solidFill>
                <a:latin typeface="Segoe UI"/>
              </a:defRPr>
            </a:pPr>
            <a:r>
              <a:t>HTML / CSS / 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417320"/>
            <a:ext cx="1243584" cy="11430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01600" rIns="50800" rtlCol="0" anchor="ctr"/>
          <a:lstStyle/>
          <a:p>
            <a:pPr algn="ctr">
              <a:defRPr sz="850" b="1">
                <a:solidFill>
                  <a:srgbClr val="95B290"/>
                </a:solidFill>
                <a:latin typeface="Segoe UI"/>
              </a:defRPr>
            </a:pPr>
            <a:r>
              <a:t>Step 3</a:t>
            </a:r>
          </a:p>
          <a:p>
            <a:pPr algn="ctr">
              <a:defRPr sz="1000" b="1">
                <a:solidFill>
                  <a:srgbClr val="F4EFE6"/>
                </a:solidFill>
                <a:latin typeface="Segoe UI"/>
              </a:defRPr>
            </a:pPr>
            <a:r>
              <a:t>SAMS Backend</a:t>
            </a:r>
          </a:p>
          <a:p>
            <a:pPr algn="ctr">
              <a:defRPr sz="800">
                <a:solidFill>
                  <a:srgbClr val="CBD4CF"/>
                </a:solidFill>
                <a:latin typeface="Segoe UI"/>
              </a:defRPr>
            </a:pPr>
            <a:r>
              <a:t>PHP 8.2+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1456" y="1417320"/>
            <a:ext cx="1243584" cy="11430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01600" rIns="50800" rtlCol="0" anchor="ctr"/>
          <a:lstStyle/>
          <a:p>
            <a:pPr algn="ctr">
              <a:defRPr sz="850" b="1">
                <a:solidFill>
                  <a:srgbClr val="95B290"/>
                </a:solidFill>
                <a:latin typeface="Segoe UI"/>
              </a:defRPr>
            </a:pPr>
            <a:r>
              <a:t>Step 4</a:t>
            </a:r>
          </a:p>
          <a:p>
            <a:pPr algn="ctr">
              <a:defRPr sz="1000" b="1">
                <a:solidFill>
                  <a:srgbClr val="F4EFE6"/>
                </a:solidFill>
                <a:latin typeface="Segoe UI"/>
              </a:defRPr>
            </a:pPr>
            <a:r>
              <a:t>Auth &amp; Security</a:t>
            </a:r>
          </a:p>
          <a:p>
            <a:pPr algn="ctr">
              <a:defRPr sz="800">
                <a:solidFill>
                  <a:srgbClr val="CBD4CF"/>
                </a:solidFill>
                <a:latin typeface="Segoe UI"/>
              </a:defRPr>
            </a:pPr>
            <a:r>
              <a:t>JWT &amp; RBAC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417320"/>
            <a:ext cx="1243584" cy="11430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01600" rIns="50800" rtlCol="0" anchor="ctr"/>
          <a:lstStyle/>
          <a:p>
            <a:pPr algn="ctr">
              <a:defRPr sz="850" b="1">
                <a:solidFill>
                  <a:srgbClr val="6FA574"/>
                </a:solidFill>
                <a:latin typeface="Segoe UI"/>
              </a:defRPr>
            </a:pPr>
            <a:r>
              <a:t>Step 5</a:t>
            </a:r>
          </a:p>
          <a:p>
            <a:pPr algn="ctr">
              <a:defRPr sz="1000" b="1">
                <a:solidFill>
                  <a:srgbClr val="F4EFE6"/>
                </a:solidFill>
                <a:latin typeface="Segoe UI"/>
              </a:defRPr>
            </a:pPr>
            <a:r>
              <a:t>Attendance Logic</a:t>
            </a:r>
          </a:p>
          <a:p>
            <a:pPr algn="ctr">
              <a:defRPr sz="800">
                <a:solidFill>
                  <a:srgbClr val="CBD4CF"/>
                </a:solidFill>
                <a:latin typeface="Segoe UI"/>
              </a:defRPr>
            </a:pPr>
            <a:r>
              <a:t>Session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1417320"/>
            <a:ext cx="1243584" cy="11430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01600" rIns="50800" rtlCol="0" anchor="ctr"/>
          <a:lstStyle/>
          <a:p>
            <a:pPr algn="ctr">
              <a:defRPr sz="850" b="1">
                <a:solidFill>
                  <a:srgbClr val="6FA574"/>
                </a:solidFill>
                <a:latin typeface="Segoe UI"/>
              </a:defRPr>
            </a:pPr>
            <a:r>
              <a:t>Step 6</a:t>
            </a:r>
          </a:p>
          <a:p>
            <a:pPr algn="ctr">
              <a:defRPr sz="1000" b="1">
                <a:solidFill>
                  <a:srgbClr val="F4EFE6"/>
                </a:solidFill>
                <a:latin typeface="Segoe UI"/>
              </a:defRPr>
            </a:pPr>
            <a:r>
              <a:t>AI Face Engine</a:t>
            </a:r>
          </a:p>
          <a:p>
            <a:pPr algn="ctr">
              <a:defRPr sz="800">
                <a:solidFill>
                  <a:srgbClr val="CBD4CF"/>
                </a:solidFill>
                <a:latin typeface="Segoe UI"/>
              </a:defRPr>
            </a:pPr>
            <a:r>
              <a:t>CompreFace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51392" y="1417320"/>
            <a:ext cx="1243584" cy="11430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01600" rIns="50800" rtlCol="0" anchor="ctr"/>
          <a:lstStyle/>
          <a:p>
            <a:pPr algn="ctr">
              <a:defRPr sz="850" b="1">
                <a:solidFill>
                  <a:srgbClr val="99B3C6"/>
                </a:solidFill>
                <a:latin typeface="Segoe UI"/>
              </a:defRPr>
            </a:pPr>
            <a:r>
              <a:t>Step 7</a:t>
            </a:r>
          </a:p>
          <a:p>
            <a:pPr algn="ctr">
              <a:defRPr sz="1000" b="1">
                <a:solidFill>
                  <a:srgbClr val="F4EFE6"/>
                </a:solidFill>
                <a:latin typeface="Segoe UI"/>
              </a:defRPr>
            </a:pPr>
            <a:r>
              <a:t>PostgreSQL DB</a:t>
            </a:r>
          </a:p>
          <a:p>
            <a:pPr algn="ctr">
              <a:defRPr sz="800">
                <a:solidFill>
                  <a:srgbClr val="CBD4CF"/>
                </a:solidFill>
                <a:latin typeface="Segoe UI"/>
              </a:defRPr>
            </a:pPr>
            <a:r>
              <a:t>Relational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04704" y="1417320"/>
            <a:ext cx="1243584" cy="11430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01600" rIns="50800" rtlCol="0" anchor="ctr"/>
          <a:lstStyle/>
          <a:p>
            <a:pPr algn="ctr">
              <a:defRPr sz="850" b="1">
                <a:solidFill>
                  <a:srgbClr val="7E94A8"/>
                </a:solidFill>
                <a:latin typeface="Segoe UI"/>
              </a:defRPr>
            </a:pPr>
            <a:r>
              <a:t>Step 8</a:t>
            </a:r>
          </a:p>
          <a:p>
            <a:pPr algn="ctr">
              <a:defRPr sz="1000" b="1">
                <a:solidFill>
                  <a:srgbClr val="F4EFE6"/>
                </a:solidFill>
                <a:latin typeface="Segoe UI"/>
              </a:defRPr>
            </a:pPr>
            <a:r>
              <a:t>Reports &amp; Analytics</a:t>
            </a:r>
          </a:p>
          <a:p>
            <a:pPr algn="ctr">
              <a:defRPr sz="800">
                <a:solidFill>
                  <a:srgbClr val="CBD4CF"/>
                </a:solidFill>
                <a:latin typeface="Segoe UI"/>
              </a:defRPr>
            </a:pPr>
            <a:r>
              <a:t>Visual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3429000" cy="338328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77800" rIns="177800" rtlCol="0" anchor="ctr"/>
          <a:lstStyle/>
          <a:p>
            <a:pPr algn="ctr">
              <a:spcAft>
                <a:spcPts val="800"/>
              </a:spcAft>
              <a:defRPr sz="1150" b="1">
                <a:solidFill>
                  <a:srgbClr val="7E94A8"/>
                </a:solidFill>
                <a:latin typeface="Segoe UI"/>
              </a:defRPr>
            </a:pPr>
            <a:r>
              <a:t>Administrator Control &amp; Governance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Centralized management of departments, courses, teachers, and students.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Configures academic calendars, class divisions, and attendance thresholds.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Maintains immutable audit logs of system activity and teacher overrides.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834640"/>
            <a:ext cx="3429000" cy="338328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77800" rIns="177800" rtlCol="0" anchor="ctr"/>
          <a:lstStyle/>
          <a:p>
            <a:pPr algn="ctr">
              <a:spcAft>
                <a:spcPts val="800"/>
              </a:spcAft>
              <a:defRPr sz="1150" b="1">
                <a:solidFill>
                  <a:srgbClr val="95B290"/>
                </a:solidFill>
                <a:latin typeface="Segoe UI"/>
              </a:defRPr>
            </a:pPr>
            <a:r>
              <a:t>Teacher Studio &amp; Attendance Workflows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Creates real-time lecture and laboratory attendance sessions.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Dynamically retrieves class and division student rosters.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Provides manual attendance grid with instant batch marking options.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Performs continuous or individual AI face verification seamlessly.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834640"/>
            <a:ext cx="3429000" cy="338328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77800" rIns="177800" rtlCol="0" anchor="ctr"/>
          <a:lstStyle/>
          <a:p>
            <a:pPr algn="ctr">
              <a:spcAft>
                <a:spcPts val="800"/>
              </a:spcAft>
              <a:defRPr sz="1150" b="1">
                <a:solidFill>
                  <a:srgbClr val="6FA574"/>
                </a:solidFill>
                <a:latin typeface="Segoe UI"/>
              </a:defRPr>
            </a:pPr>
            <a:r>
              <a:t>Data Persistence &amp; Reporting Engine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Enrolled student biometric vectors mapped securely to academic records.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PostgreSQL relational storage prevents duplicate entries per session.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Calculates cumulative attendance and triggers 75% shortage warnings.</a:t>
            </a:r>
          </a:p>
          <a:p>
            <a:pPr>
              <a:spcAft>
                <a:spcPts val="6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• Generates exportable compliance reports for HODs and administration.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6. WORKING PRINCIPLE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6. Working Principle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Step-by-Step Attendance Execution Cycle &amp;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444752" cy="77724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1. Login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Auth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6856" y="1417320"/>
            <a:ext cx="1444752" cy="77724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2. Session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Select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22192" y="1417320"/>
            <a:ext cx="1444752" cy="77724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3. Input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Camera /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7528" y="1417320"/>
            <a:ext cx="1444752" cy="77724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4. Processing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CompreFace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12864" y="1417320"/>
            <a:ext cx="1444752" cy="77724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5. Verification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Match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417320"/>
            <a:ext cx="1444752" cy="77724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6. Database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3536" y="1417320"/>
            <a:ext cx="1444752" cy="777240"/>
          </a:xfrm>
          <a:prstGeom prst="roundRect">
            <a:avLst/>
          </a:prstGeom>
          <a:solidFill>
            <a:srgbClr val="1E2422"/>
          </a:solidFill>
          <a:ln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7. Result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Report / KPI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23160"/>
            <a:ext cx="5212080" cy="384048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7780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PHASE 1: AUTHENTICATION &amp; SESSION SETUP</a:t>
            </a:r>
          </a:p>
          <a:p>
            <a:pPr>
              <a:spcAft>
                <a:spcPts val="400"/>
              </a:spcAft>
              <a:defRPr sz="1000" b="1">
                <a:solidFill>
                  <a:srgbClr val="99B3C6"/>
                </a:solidFill>
                <a:latin typeface="Segoe UI"/>
              </a:defRPr>
            </a:pPr>
            <a:r>
              <a:t>1. User Login: </a:t>
            </a:r>
            <a:r>
              <a:rPr sz="950" b="0">
                <a:solidFill>
                  <a:srgbClr val="F4EFE6"/>
                </a:solidFill>
                <a:latin typeface="Segoe UI"/>
              </a:rPr>
              <a:t>Teacher or Administrator logs into the SAMS web application.</a:t>
            </a:r>
          </a:p>
          <a:p>
            <a:pPr>
              <a:spcAft>
                <a:spcPts val="400"/>
              </a:spcAft>
              <a:defRPr sz="1000" b="1">
                <a:solidFill>
                  <a:srgbClr val="99B3C6"/>
                </a:solidFill>
                <a:latin typeface="Segoe UI"/>
              </a:defRPr>
            </a:pPr>
            <a:r>
              <a:t>2. Role Verification: </a:t>
            </a:r>
            <a:r>
              <a:rPr sz="950" b="0">
                <a:solidFill>
                  <a:srgbClr val="F4EFE6"/>
                </a:solidFill>
                <a:latin typeface="Segoe UI"/>
              </a:rPr>
              <a:t>Backend verifies user credentials, role permissions, and session tokens.</a:t>
            </a:r>
          </a:p>
          <a:p>
            <a:pPr>
              <a:spcAft>
                <a:spcPts val="400"/>
              </a:spcAft>
              <a:defRPr sz="1000" b="1">
                <a:solidFill>
                  <a:srgbClr val="99B3C6"/>
                </a:solidFill>
                <a:latin typeface="Segoe UI"/>
              </a:defRPr>
            </a:pPr>
            <a:r>
              <a:t>3. Session Selection: </a:t>
            </a:r>
            <a:r>
              <a:rPr sz="950" b="0">
                <a:solidFill>
                  <a:srgbClr val="F4EFE6"/>
                </a:solidFill>
                <a:latin typeface="Segoe UI"/>
              </a:rPr>
              <a:t>Teacher selects academic course, semester, division, and subject.</a:t>
            </a:r>
          </a:p>
          <a:p>
            <a:pPr>
              <a:spcAft>
                <a:spcPts val="400"/>
              </a:spcAft>
              <a:defRPr sz="1000" b="1">
                <a:solidFill>
                  <a:srgbClr val="99B3C6"/>
                </a:solidFill>
                <a:latin typeface="Segoe UI"/>
              </a:defRPr>
            </a:pPr>
            <a:r>
              <a:t>4. Roster Retrieval: </a:t>
            </a:r>
            <a:r>
              <a:rPr sz="950" b="0">
                <a:solidFill>
                  <a:srgbClr val="F4EFE6"/>
                </a:solidFill>
                <a:latin typeface="Segoe UI"/>
              </a:rPr>
              <a:t>System dynamically loads the active enrolled student roster from PostgreSQL.</a:t>
            </a:r>
          </a:p>
          <a:p>
            <a:pPr>
              <a:spcAft>
                <a:spcPts val="400"/>
              </a:spcAft>
              <a:defRPr sz="1000" b="1">
                <a:solidFill>
                  <a:srgbClr val="99B3C6"/>
                </a:solidFill>
                <a:latin typeface="Segoe UI"/>
              </a:defRPr>
            </a:pPr>
            <a:r>
              <a:t>5. Manual Attendance: </a:t>
            </a:r>
            <a:r>
              <a:rPr sz="950" b="0">
                <a:solidFill>
                  <a:srgbClr val="F4EFE6"/>
                </a:solidFill>
                <a:latin typeface="Segoe UI"/>
              </a:rPr>
              <a:t>Teacher can record attendance manually using the interactive grid studio.</a:t>
            </a:r>
          </a:p>
          <a:p>
            <a:pPr>
              <a:spcAft>
                <a:spcPts val="400"/>
              </a:spcAft>
              <a:defRPr sz="1000" b="1">
                <a:solidFill>
                  <a:srgbClr val="99B3C6"/>
                </a:solidFill>
                <a:latin typeface="Segoe UI"/>
              </a:defRPr>
            </a:pPr>
            <a:r>
              <a:t>6. Camera Capture: </a:t>
            </a:r>
            <a:r>
              <a:rPr sz="950" b="0">
                <a:solidFill>
                  <a:srgbClr val="F4EFE6"/>
                </a:solidFill>
                <a:latin typeface="Segoe UI"/>
              </a:rPr>
              <a:t>For face attendance, browser camera captures the student's face via Web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23160"/>
            <a:ext cx="5242255" cy="384048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7780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6FA574"/>
                </a:solidFill>
                <a:latin typeface="Segoe UI"/>
              </a:defRPr>
            </a:pPr>
            <a:r>
              <a:t>PHASE 2: AI RECOGNITION &amp; RECORD PERSISTENCE</a:t>
            </a:r>
          </a:p>
          <a:p>
            <a:pPr>
              <a:spcAft>
                <a:spcPts val="600"/>
              </a:spcAft>
              <a:defRPr sz="1000" b="1">
                <a:solidFill>
                  <a:srgbClr val="6FA574"/>
                </a:solidFill>
                <a:latin typeface="Segoe UI"/>
              </a:defRPr>
            </a:pPr>
            <a:r>
              <a:t>7. Face Processing: </a:t>
            </a:r>
            <a:r>
              <a:rPr sz="950" b="0">
                <a:solidFill>
                  <a:srgbClr val="F4EFE6"/>
                </a:solidFill>
                <a:latin typeface="Segoe UI"/>
              </a:rPr>
              <a:t>Captured frame is analyzed by CompreFace face recognition service.</a:t>
            </a:r>
          </a:p>
          <a:p>
            <a:pPr>
              <a:spcAft>
                <a:spcPts val="600"/>
              </a:spcAft>
              <a:defRPr sz="1000" b="1">
                <a:solidFill>
                  <a:srgbClr val="6FA574"/>
                </a:solidFill>
                <a:latin typeface="Segoe UI"/>
              </a:defRPr>
            </a:pPr>
            <a:r>
              <a:t>8. Identity Verification: </a:t>
            </a:r>
            <a:r>
              <a:rPr sz="950" b="0">
                <a:solidFill>
                  <a:srgbClr val="F4EFE6"/>
                </a:solidFill>
                <a:latin typeface="Segoe UI"/>
              </a:rPr>
              <a:t>Extracted facial landmarks are mapped to enrolled student profiles.</a:t>
            </a:r>
          </a:p>
          <a:p>
            <a:pPr>
              <a:spcAft>
                <a:spcPts val="600"/>
              </a:spcAft>
              <a:defRPr sz="1000" b="1">
                <a:solidFill>
                  <a:srgbClr val="6FA574"/>
                </a:solidFill>
                <a:latin typeface="Segoe UI"/>
              </a:defRPr>
            </a:pPr>
            <a:r>
              <a:t>9. Backend Validation: </a:t>
            </a:r>
            <a:r>
              <a:rPr sz="950" b="0">
                <a:solidFill>
                  <a:srgbClr val="F4EFE6"/>
                </a:solidFill>
                <a:latin typeface="Segoe UI"/>
              </a:rPr>
              <a:t>PHP backend validates session ID, timetable, and duplicate marking rules.</a:t>
            </a:r>
          </a:p>
          <a:p>
            <a:pPr>
              <a:spcAft>
                <a:spcPts val="600"/>
              </a:spcAft>
              <a:defRPr sz="1000" b="1">
                <a:solidFill>
                  <a:srgbClr val="6FA574"/>
                </a:solidFill>
                <a:latin typeface="Segoe UI"/>
              </a:defRPr>
            </a:pPr>
            <a:r>
              <a:t>10. Database Persistence: </a:t>
            </a:r>
            <a:r>
              <a:rPr sz="950" b="0">
                <a:solidFill>
                  <a:srgbClr val="F4EFE6"/>
                </a:solidFill>
                <a:latin typeface="Segoe UI"/>
              </a:rPr>
              <a:t>Confirmed attendance record is permanently saved in PostgreSQL.</a:t>
            </a:r>
          </a:p>
          <a:p>
            <a:pPr>
              <a:spcAft>
                <a:spcPts val="600"/>
              </a:spcAft>
              <a:defRPr sz="1000" b="1">
                <a:solidFill>
                  <a:srgbClr val="6FA574"/>
                </a:solidFill>
                <a:latin typeface="Segoe UI"/>
              </a:defRPr>
            </a:pPr>
            <a:r>
              <a:t>11. Report Generation: </a:t>
            </a:r>
            <a:r>
              <a:rPr sz="950" b="0">
                <a:solidFill>
                  <a:srgbClr val="F4EFE6"/>
                </a:solidFill>
                <a:latin typeface="Segoe UI"/>
              </a:rPr>
              <a:t>Attendance percentages update in real-time for student &amp; faculty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7. H/W AND S/W REQUIREMENTS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7. H/W and S/W Requirements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Realistic Specifications for Full-Stack Web Development &amp;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95B290"/>
                </a:solidFill>
                <a:latin typeface="Segoe UI"/>
              </a:defRPr>
            </a:pPr>
            <a:r>
              <a:t>HARDWARE REQUIREMENTS (Web-Based System)</a:t>
            </a:r>
          </a:p>
          <a:p>
            <a:pPr>
              <a:spcAft>
                <a:spcPts val="6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Client Device: </a:t>
            </a:r>
            <a:r>
              <a:rPr sz="1000" b="0">
                <a:solidFill>
                  <a:srgbClr val="CBD4CF"/>
                </a:solidFill>
                <a:latin typeface="Segoe UI"/>
              </a:rPr>
              <a:t>Standard PC, Laptop, or Tablet for faculty/admin operation.</a:t>
            </a:r>
          </a:p>
          <a:p>
            <a:pPr>
              <a:spcAft>
                <a:spcPts val="6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Camera: </a:t>
            </a:r>
            <a:r>
              <a:rPr sz="1000" b="0">
                <a:solidFill>
                  <a:srgbClr val="CBD4CF"/>
                </a:solidFill>
                <a:latin typeface="Segoe UI"/>
              </a:rPr>
              <a:t>Standard HD Webcam (720p / 1080p) or integrated laptop camera.</a:t>
            </a:r>
          </a:p>
          <a:p>
            <a:pPr>
              <a:spcAft>
                <a:spcPts val="6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Processor: </a:t>
            </a:r>
            <a:r>
              <a:rPr sz="1000" b="0">
                <a:solidFill>
                  <a:srgbClr val="CBD4CF"/>
                </a:solidFill>
                <a:latin typeface="Segoe UI"/>
              </a:rPr>
              <a:t>Dual-core CPU (Intel Core i3 / AMD Ryzen 3 or higher).</a:t>
            </a:r>
          </a:p>
          <a:p>
            <a:pPr>
              <a:spcAft>
                <a:spcPts val="6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System Memory (RAM): </a:t>
            </a:r>
            <a:r>
              <a:rPr sz="1000" b="0">
                <a:solidFill>
                  <a:srgbClr val="CBD4CF"/>
                </a:solidFill>
                <a:latin typeface="Segoe UI"/>
              </a:rPr>
              <a:t>Minimum 4 GB RAM recommended for smooth development &amp; runtime.</a:t>
            </a:r>
          </a:p>
          <a:p>
            <a:pPr>
              <a:spcAft>
                <a:spcPts val="6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Storage: </a:t>
            </a:r>
            <a:r>
              <a:rPr sz="1000" b="0">
                <a:solidFill>
                  <a:srgbClr val="CBD4CF"/>
                </a:solidFill>
                <a:latin typeface="Segoe UI"/>
              </a:rPr>
              <a:t>Standard 20 GB free disk space for codebase, Docker, &amp; database.</a:t>
            </a:r>
          </a:p>
          <a:p>
            <a:pPr>
              <a:spcAft>
                <a:spcPts val="6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Network Connectivity: </a:t>
            </a:r>
            <a:r>
              <a:rPr sz="1000" b="0">
                <a:solidFill>
                  <a:srgbClr val="CBD4CF"/>
                </a:solidFill>
                <a:latin typeface="Segoe UI"/>
              </a:rPr>
              <a:t>Active LAN / Wi-Fi / Broadband Internet connection.</a:t>
            </a:r>
          </a:p>
          <a:p>
            <a:pPr>
              <a:spcAft>
                <a:spcPts val="6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Hardware Distinction: </a:t>
            </a:r>
            <a:r>
              <a:rPr sz="1000" b="0">
                <a:solidFill>
                  <a:srgbClr val="CBD4CF"/>
                </a:solidFill>
                <a:latin typeface="Segoe UI"/>
              </a:rPr>
              <a:t>Pure software web project: No Arduino, microcontrollers, or IoT sensors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6FA574"/>
                </a:solidFill>
                <a:latin typeface="Segoe UI"/>
              </a:defRPr>
            </a:pPr>
            <a:r>
              <a:t>SOFTWARE REQUIREMENTS</a:t>
            </a:r>
          </a:p>
          <a:p>
            <a:pPr>
              <a:spcAft>
                <a:spcPts val="4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Frontend Technologies: </a:t>
            </a:r>
            <a:r>
              <a:rPr sz="1000" b="0">
                <a:solidFill>
                  <a:srgbClr val="CBD4CF"/>
                </a:solidFill>
                <a:latin typeface="Segoe UI"/>
              </a:rPr>
              <a:t>HTML5, CSS3, Modern Vanilla JavaScript (ES6+), Chart.js.</a:t>
            </a:r>
          </a:p>
          <a:p>
            <a:pPr>
              <a:spcAft>
                <a:spcPts val="4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Backend Framework: </a:t>
            </a:r>
            <a:r>
              <a:rPr sz="1000" b="0">
                <a:solidFill>
                  <a:srgbClr val="CBD4CF"/>
                </a:solidFill>
                <a:latin typeface="Segoe UI"/>
              </a:rPr>
              <a:t>PHP 8.2+ with REST router, JSON responses, and PDO drivers.</a:t>
            </a:r>
          </a:p>
          <a:p>
            <a:pPr>
              <a:spcAft>
                <a:spcPts val="4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Database Management: </a:t>
            </a:r>
            <a:r>
              <a:rPr sz="1000" b="0">
                <a:solidFill>
                  <a:srgbClr val="CBD4CF"/>
                </a:solidFill>
                <a:latin typeface="Segoe UI"/>
              </a:rPr>
              <a:t>PostgreSQL 13+ relational database with foreign key cascades.</a:t>
            </a:r>
          </a:p>
          <a:p>
            <a:pPr>
              <a:spcAft>
                <a:spcPts val="4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Face Recognition: </a:t>
            </a:r>
            <a:r>
              <a:rPr sz="1000" b="0">
                <a:solidFill>
                  <a:srgbClr val="CBD4CF"/>
                </a:solidFill>
                <a:latin typeface="Segoe UI"/>
              </a:rPr>
              <a:t>CompreFace Facial Recognition Engine (Docker-based microservice).</a:t>
            </a:r>
          </a:p>
          <a:p>
            <a:pPr>
              <a:spcAft>
                <a:spcPts val="4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Containerization: </a:t>
            </a:r>
            <a:r>
              <a:rPr sz="1000" b="0">
                <a:solidFill>
                  <a:srgbClr val="CBD4CF"/>
                </a:solidFill>
                <a:latin typeface="Segoe UI"/>
              </a:rPr>
              <a:t>Docker &amp; Docker Compose for service orchestration.</a:t>
            </a:r>
          </a:p>
          <a:p>
            <a:pPr>
              <a:spcAft>
                <a:spcPts val="4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Cloud Deployment: </a:t>
            </a:r>
            <a:r>
              <a:rPr sz="1000" b="0">
                <a:solidFill>
                  <a:srgbClr val="CBD4CF"/>
                </a:solidFill>
                <a:latin typeface="Segoe UI"/>
              </a:rPr>
              <a:t>Vercel (Frontend Edge Hosting) &amp; Render (PHP Backend &amp; DB).</a:t>
            </a:r>
          </a:p>
          <a:p>
            <a:pPr>
              <a:spcAft>
                <a:spcPts val="4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Development Tools: </a:t>
            </a:r>
            <a:r>
              <a:rPr sz="1000" b="0">
                <a:solidFill>
                  <a:srgbClr val="CBD4CF"/>
                </a:solidFill>
                <a:latin typeface="Segoe UI"/>
              </a:rPr>
              <a:t>VS Code / Antigravity IDE, Git &amp; GitHub for Version Control.</a:t>
            </a:r>
          </a:p>
          <a:p>
            <a:pPr>
              <a:spcAft>
                <a:spcPts val="400"/>
              </a:spcAft>
              <a:defRPr sz="1050" b="1">
                <a:solidFill>
                  <a:srgbClr val="F4EFE6"/>
                </a:solidFill>
                <a:latin typeface="Segoe UI"/>
              </a:defRPr>
            </a:pPr>
            <a:r>
              <a:t>• Client Browser: </a:t>
            </a:r>
            <a:r>
              <a:rPr sz="1000" b="0">
                <a:solidFill>
                  <a:srgbClr val="CBD4CF"/>
                </a:solidFill>
                <a:latin typeface="Segoe UI"/>
              </a:rPr>
              <a:t>Modern Web Browser (Google Chrome, Microsoft Edge, Firefox).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8. BLOCK DIAGRAM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8. Block Diagram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Architectural Block Diagram &amp; Cloud Deployment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10728655" cy="3493008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0" y="1463040"/>
            <a:ext cx="3962095" cy="402336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7E94A8"/>
                </a:solidFill>
                <a:latin typeface="Segoe UI"/>
              </a:defRPr>
            </a:pPr>
            <a:r>
              <a:t>ADMINISTRATOR  /  TEACHER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61888" y="1892807"/>
            <a:ext cx="256032" cy="128016"/>
          </a:xfrm>
          <a:prstGeom prst="downArrow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74720" y="2039112"/>
            <a:ext cx="5242255" cy="402336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5B290"/>
                </a:solidFill>
                <a:latin typeface="Segoe UI"/>
              </a:defRPr>
            </a:pPr>
            <a:r>
              <a:t>WEB APPLICATION  (HTML5 / CSS3 / JavaScript / Camera API)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61888" y="2468880"/>
            <a:ext cx="256032" cy="128016"/>
          </a:xfrm>
          <a:prstGeom prst="downArrow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0" y="2615184"/>
            <a:ext cx="5790895" cy="420624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9B3C6"/>
                </a:solidFill>
                <a:latin typeface="Segoe UI"/>
              </a:defRPr>
            </a:pPr>
            <a:r>
              <a:t>PHP BACKEND  (Authentication &amp; Attendance Business Logic)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291840" y="3054096"/>
            <a:ext cx="256032" cy="128016"/>
          </a:xfrm>
          <a:prstGeom prst="downArrow">
            <a:avLst/>
          </a:prstGeom>
          <a:solidFill>
            <a:srgbClr val="6F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8595360" y="3054096"/>
            <a:ext cx="256032" cy="128016"/>
          </a:xfrm>
          <a:prstGeom prst="downArrow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3200400"/>
            <a:ext cx="4114800" cy="621792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6FA574"/>
                </a:solidFill>
                <a:latin typeface="Segoe UI"/>
              </a:defRPr>
            </a:pPr>
            <a:r>
              <a:t>PostgreSQL Relational Database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Users, Classes, Attendance Sessions &amp;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5295" y="3200400"/>
            <a:ext cx="4114800" cy="621792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95B290"/>
                </a:solidFill>
                <a:latin typeface="Segoe UI"/>
              </a:defRPr>
            </a:pPr>
            <a:r>
              <a:t>AI Face Recognition (CompreFace)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Biometric Verification &amp; Landmark Matching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95360" y="3840480"/>
            <a:ext cx="256032" cy="128016"/>
          </a:xfrm>
          <a:prstGeom prst="downArrow">
            <a:avLst/>
          </a:prstGeom>
          <a:solidFill>
            <a:srgbClr val="6F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05295" y="3986784"/>
            <a:ext cx="4114800" cy="512064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FA574"/>
                </a:solidFill>
                <a:latin typeface="Segoe UI"/>
              </a:defRPr>
            </a:pPr>
            <a:r>
              <a:t>Attendance Result / Live Report Output</a:t>
            </a:r>
          </a:p>
          <a:p>
            <a:pPr algn="ctr">
              <a:defRPr sz="850">
                <a:solidFill>
                  <a:srgbClr val="CBD4CF"/>
                </a:solidFill>
                <a:latin typeface="Segoe UI"/>
              </a:defRPr>
            </a:pPr>
            <a:r>
              <a:t>Instant Status Confirmation &amp; Percentage Updates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56048"/>
            <a:ext cx="10728655" cy="1261872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016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DEPLOYMENT ARCHITECTURE &amp; CLOUD INTEGRATION</a:t>
            </a:r>
          </a:p>
          <a:p>
            <a:pPr>
              <a:spcAft>
                <a:spcPts val="200"/>
              </a:spcAft>
              <a:defRPr sz="1100" b="1">
                <a:solidFill>
                  <a:srgbClr val="F4EFE6"/>
                </a:solidFill>
                <a:latin typeface="Segoe UI"/>
              </a:defRPr>
            </a:pPr>
            <a:r>
              <a:t>Vercel (Global Edge Frontend)  ➔  Render Cloud (PHP Backend API)  ➔  Managed PostgreSQL &amp; CompreFace Service</a:t>
            </a:r>
          </a:p>
          <a:p>
            <a:pPr>
              <a:defRPr sz="950">
                <a:solidFill>
                  <a:srgbClr val="CBD4CF"/>
                </a:solidFill>
                <a:latin typeface="Segoe UI"/>
              </a:defRPr>
            </a:pPr>
            <a:r>
              <a:t>Two-tier decoupled architecture: Static HTML/JS served via global CDN edge for zero latency; PHP API securely handles auth, attendance rules, and database queries over HTTPS.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9. APPLICATIONS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9. Applications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Target Institutional Deployments &amp; Operational Scenarios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✦  Schools &amp; Junior Colleges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Streamlining daily morning attendance and tracking student attendance regularity.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9B3C6"/>
                </a:solidFill>
                <a:latin typeface="Segoe UI"/>
              </a:defRPr>
            </a:pPr>
            <a:r>
              <a:t>✦  Polytechnic Institutes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Department-wise (CO, IF, EJ, ME) lecture and laboratory session roll-call automation.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7E94A8"/>
                </a:solidFill>
                <a:latin typeface="Segoe UI"/>
              </a:defRPr>
            </a:pPr>
            <a:r>
              <a:t>✦  Engineering Colleges &amp; Universities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Scalable tracking across multiple classes, divisions, and semester curricula.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6FA574"/>
                </a:solidFill>
                <a:latin typeface="Segoe UI"/>
              </a:defRPr>
            </a:pPr>
            <a:r>
              <a:t>✦  Classroom Lecture Attendance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Rapid attendance marking in theory lectures saving 10–15 minutes per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✦  Practical / Laboratory Batches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Sub-division batch-wise (B1, B2, B3) tracking for technical experiments.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9B3C6"/>
                </a:solidFill>
                <a:latin typeface="Segoe UI"/>
              </a:defRPr>
            </a:pPr>
            <a:r>
              <a:t>✦  Department-Wise Management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Consolidated student directories, faculty allocations, and class timetable oversight.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7E94A8"/>
                </a:solidFill>
                <a:latin typeface="Segoe UI"/>
              </a:defRPr>
            </a:pPr>
            <a:r>
              <a:t>✦  Student Attendance Reporting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Transparent percentage tracking, subject breakdown, and monthly attendance calendars.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6FA574"/>
                </a:solidFill>
                <a:latin typeface="Segoe UI"/>
              </a:defRPr>
            </a:pPr>
            <a:r>
              <a:t>✦  Teacher Attendance Workflows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Structured session creation, editable records, and audited override mechanisms.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✦  Centralized Academic Records</a:t>
            </a:r>
          </a:p>
          <a:p>
            <a:pPr>
              <a:defRPr sz="950">
                <a:solidFill>
                  <a:srgbClr val="F4EFE6"/>
                </a:solidFill>
                <a:latin typeface="Segoe UI"/>
              </a:defRPr>
            </a:pPr>
            <a:r>
              <a:t>Secure digital persistence replacing vulnerable paper attendance registers.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10. ADVANTAGES &amp; LIMITATIONS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10. Advantages &amp; Limitations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System Evaluation, Technical Benefits, and Real-World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6FA574"/>
                </a:solidFill>
                <a:latin typeface="Segoe UI"/>
              </a:defRPr>
            </a:pPr>
            <a:r>
              <a:t>ADVANTAGES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Significantly reduces teacher manual effort during daily classroom sessions.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Saves valuable instructional lecture time (recovering 10–15 minutes).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Centralized digital records eliminate paper register loss and damage.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Rapid attendance processing through batch marking or AI scanning.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Eliminates human arithmetic calculation and transcription errors.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Provides comprehensive student, faculty, and academic directory management.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Automated attendance reports, analytics, and 75% shortage alert rosters.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Supports AI-based face verification for modern contactless attendance.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Strict role-based access control (Admin, Teacher, Student) and audit logs.</a:t>
            </a:r>
          </a:p>
          <a:p>
            <a:pPr>
              <a:spcAft>
                <a:spcPts val="250"/>
              </a:spcAft>
              <a:defRPr sz="980">
                <a:solidFill>
                  <a:srgbClr val="F4EFE6"/>
                </a:solidFill>
                <a:latin typeface="Segoe UI"/>
              </a:defRPr>
            </a:pPr>
            <a:r>
              <a:t>✔  Universal accessibility through any modern web browser across campus.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C48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C4856A"/>
                </a:solidFill>
                <a:latin typeface="Segoe UI"/>
              </a:defRPr>
            </a:pPr>
            <a:r>
              <a:t>LIMITATIONS &amp; CONSTRAINTS</a:t>
            </a:r>
          </a:p>
          <a:p>
            <a:pPr>
              <a:spcAft>
                <a:spcPts val="5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✖  Requires a functional webcam or built-in camera for face attendance.</a:t>
            </a:r>
          </a:p>
          <a:p>
            <a:pPr>
              <a:spcAft>
                <a:spcPts val="5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✖  Face recognition accuracy depends on ambient lighting &amp; image clarity.</a:t>
            </a:r>
          </a:p>
          <a:p>
            <a:pPr>
              <a:spcAft>
                <a:spcPts val="5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✖  Cloud deployment requires active campus internet/network connectivity.</a:t>
            </a:r>
          </a:p>
          <a:p>
            <a:pPr>
              <a:spcAft>
                <a:spcPts val="5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✖  AI verification requires prior enrollment of registered student face data.</a:t>
            </a:r>
          </a:p>
          <a:p>
            <a:pPr>
              <a:spcAft>
                <a:spcPts val="5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✖  Initial cloud deployment and Docker setup require technical administration.</a:t>
            </a:r>
          </a:p>
          <a:p>
            <a:pPr>
              <a:spcAft>
                <a:spcPts val="5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✖  Biometric data handling requires appropriate data security and user privacy controls.</a:t>
            </a:r>
          </a:p>
          <a:p>
            <a:pPr>
              <a:spcAft>
                <a:spcPts val="500"/>
              </a:spcAft>
              <a:defRPr sz="1000">
                <a:solidFill>
                  <a:srgbClr val="F4EFE6"/>
                </a:solidFill>
                <a:latin typeface="Segoe UI"/>
              </a:defRPr>
            </a:pPr>
            <a:r>
              <a:t>✖  Face recognition may occasionally fail; manual teacher fallback is mandatory.</a:t>
            </a:r>
          </a:p>
          <a:p>
            <a:pPr>
              <a:spcBef>
                <a:spcPts val="800"/>
              </a:spcBef>
              <a:defRPr sz="900" i="1">
                <a:solidFill>
                  <a:srgbClr val="CBD4CF"/>
                </a:solidFill>
                <a:latin typeface="Segoe UI"/>
              </a:defRPr>
            </a:pPr>
            <a:r>
              <a:t>Note: SAMS guarantees full academic integrity by keeping manual roll-call always available as a primary fallback.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11. FUTURE SCOPE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11. Future Scope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Planned Enhancements &amp; Advanced Research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FUTURE: Improved Face Recognition Accuracy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Fine-tuning deep learning models with edge adaptive lighting correction for higher multi-face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99B3C6"/>
                </a:solidFill>
                <a:latin typeface="Segoe UI"/>
              </a:defRPr>
            </a:pPr>
            <a:r>
              <a:t>FUTURE: Multi-Frame Identity Confirmation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Capturing short video burst sequences to vote across multiple consecutive frames for high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7E94A8"/>
                </a:solidFill>
                <a:latin typeface="Segoe UI"/>
              </a:defRPr>
            </a:pPr>
            <a:r>
              <a:t>FUTURE: Advanced Liveness &amp; Anti-Spoofing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Implementing dynamic blink detection, head motion vectors, and planar glare analysis to prevent photo spoofing.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6FA574"/>
                </a:solidFill>
                <a:latin typeface="Segoe UI"/>
              </a:defRPr>
            </a:pPr>
            <a:r>
              <a:t>FUTURE: Native Mobile Application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Developing cross-platform Flutter/React Native mobile applications for on-the-go teacher attendance.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FUTURE: Advanced Attendance Analytics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Machine learning predictive models to forecast dropout risks and attendance deficit trends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30632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99B3C6"/>
                </a:solidFill>
                <a:latin typeface="Segoe UI"/>
              </a:defRPr>
            </a:pPr>
            <a:r>
              <a:t>FUTURE: AI-Generated Insights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Automated natural language summaries for institute principals and HODs highlighting attendance KPIs.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7E94A8"/>
                </a:solidFill>
                <a:latin typeface="Segoe UI"/>
              </a:defRPr>
            </a:pPr>
            <a:r>
              <a:t>FUTURE: Parent &amp; Student Notifications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Automated WhatsApp, SMS, and Email alert triggers whenever student attendance drops below 75%.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6FA574"/>
                </a:solidFill>
                <a:latin typeface="Segoe UI"/>
              </a:defRPr>
            </a:pPr>
            <a:r>
              <a:t>FUTURE: QR-Based Attendance Option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Generating dynamic time-synchronized encrypted QR codes for supplementary high-speed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4663440"/>
            <a:ext cx="3429000" cy="141732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95B290"/>
                </a:solidFill>
                <a:latin typeface="Segoe UI"/>
              </a:defRPr>
            </a:pPr>
            <a:r>
              <a:t>FUTURE: College ERP Integration</a:t>
            </a:r>
          </a:p>
          <a:p>
            <a:pPr>
              <a:defRPr sz="900">
                <a:solidFill>
                  <a:srgbClr val="F4EFE6"/>
                </a:solidFill>
                <a:latin typeface="Segoe UI"/>
              </a:defRPr>
            </a:pPr>
            <a:r>
              <a:t>Direct API integration with State Board (MSBTE) examination portals and college ERP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12. EXPECTED OUTCOME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12. Expected Outcome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Project Deliverables &amp; Institutional Value Addition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91440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52400" rtlCol="0" anchor="ctr"/>
          <a:lstStyle/>
          <a:p>
            <a:pPr algn="ctr"/>
            <a:r>
              <a:rPr sz="1400" b="1">
                <a:solidFill>
                  <a:srgbClr val="C4856A"/>
                </a:solidFill>
                <a:latin typeface="Segoe UI"/>
              </a:rPr>
              <a:t>Manual Paper Registers</a:t>
            </a:r>
            <a:r>
              <a:rPr sz="1400" b="1">
                <a:solidFill>
                  <a:srgbClr val="95B290"/>
                </a:solidFill>
                <a:latin typeface="Segoe UI"/>
              </a:rPr>
              <a:t>   ➔   </a:t>
            </a:r>
            <a:r>
              <a:rPr sz="1400" b="1">
                <a:solidFill>
                  <a:srgbClr val="99B3C6"/>
                </a:solidFill>
                <a:latin typeface="Segoe UI"/>
              </a:rPr>
              <a:t>SAMS Centralized Platform</a:t>
            </a:r>
            <a:r>
              <a:rPr sz="1400" b="1">
                <a:solidFill>
                  <a:srgbClr val="95B290"/>
                </a:solidFill>
                <a:latin typeface="Segoe UI"/>
              </a:rPr>
              <a:t>   ➔   </a:t>
            </a:r>
            <a:r>
              <a:rPr sz="1400" b="1">
                <a:solidFill>
                  <a:srgbClr val="6FA574"/>
                </a:solidFill>
                <a:latin typeface="Segoe UI"/>
              </a:rPr>
              <a:t>Automated Digital Attendance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5212080" cy="182880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95B290"/>
                </a:solidFill>
                <a:latin typeface="Segoe UI"/>
              </a:defRPr>
            </a:pPr>
            <a:r>
              <a:t>Digitalization &amp; Process Efficiency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Completely digitalizes institutional attendance tracking across departments.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Eliminates repetitive physical paperwork and manual roll-call overhead.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Saves 10–15 minutes per lecture, returning critical instructional time to faculty.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14600"/>
            <a:ext cx="5242255" cy="182880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7E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7E94A8"/>
                </a:solidFill>
                <a:latin typeface="Segoe UI"/>
              </a:defRPr>
            </a:pPr>
            <a:r>
              <a:t>Data Centralization &amp; Accuracy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Centralizes all academic records in a high-performance PostgreSQL database.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Eliminates transcription errors, proxy attendance, and lost register risks.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Enforces unique constraints preventing duplicate session markings.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5212080" cy="173736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6FA574"/>
                </a:solidFill>
                <a:latin typeface="Segoe UI"/>
              </a:defRPr>
            </a:pPr>
            <a:r>
              <a:t>Practical Emerging AI Application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Demonstrates practical deployment of AI and Computer Vision in education.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Explores biometric vector matching and server-side face verification.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Integrates modern camera streaming via standard web browser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26280"/>
            <a:ext cx="5242255" cy="173736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99B3C6"/>
                </a:solidFill>
                <a:latin typeface="Segoe UI"/>
              </a:defRPr>
            </a:pPr>
            <a:r>
              <a:t>Actionable Insights &amp; Compliance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Provides instant visibility into individual student and subject attendance.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Automated shortage detection flags students below the mandatory 75% threshold.</a:t>
            </a:r>
          </a:p>
          <a:p>
            <a:pPr>
              <a:spcAft>
                <a:spcPts val="2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Establishes a solid, scalable foundation for future intelligent campus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13. CONCLUSION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13. Conclusion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Summary &amp; Acknowledgments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583680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3200" rIns="22860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95B290"/>
                </a:solidFill>
                <a:latin typeface="Segoe UI"/>
              </a:defRPr>
            </a:pPr>
            <a:r>
              <a:t>PROJECT SUMMARY &amp; TAKEAWAYS</a:t>
            </a:r>
          </a:p>
          <a:p>
            <a:pPr>
              <a:spcAft>
                <a:spcPts val="600"/>
              </a:spcAft>
              <a:defRPr sz="1050" b="1">
                <a:solidFill>
                  <a:srgbClr val="99B3C6"/>
                </a:solidFill>
                <a:latin typeface="Segoe UI"/>
              </a:defRPr>
            </a:pPr>
            <a:r>
              <a:t>• Centralized Solution: </a:t>
            </a:r>
            <a:r>
              <a:rPr sz="1000" b="0">
                <a:solidFill>
                  <a:srgbClr val="F4EFE6"/>
                </a:solidFill>
                <a:latin typeface="Segoe UI"/>
              </a:rPr>
              <a:t>SAMS provides a comprehensive, centralized digital solution for modern student attendance management.</a:t>
            </a:r>
          </a:p>
          <a:p>
            <a:pPr>
              <a:spcAft>
                <a:spcPts val="600"/>
              </a:spcAft>
              <a:defRPr sz="1050" b="1">
                <a:solidFill>
                  <a:srgbClr val="99B3C6"/>
                </a:solidFill>
                <a:latin typeface="Segoe UI"/>
              </a:defRPr>
            </a:pPr>
            <a:r>
              <a:t>• Emerging Tech Synergy: </a:t>
            </a:r>
            <a:r>
              <a:rPr sz="1000" b="0">
                <a:solidFill>
                  <a:srgbClr val="F4EFE6"/>
                </a:solidFill>
                <a:latin typeface="Segoe UI"/>
              </a:rPr>
              <a:t>Successfully combines responsive web technologies, PostgreSQL database management, and emerging AI computer vision.</a:t>
            </a:r>
          </a:p>
          <a:p>
            <a:pPr>
              <a:spcAft>
                <a:spcPts val="600"/>
              </a:spcAft>
              <a:defRPr sz="1050" b="1">
                <a:solidFill>
                  <a:srgbClr val="99B3C6"/>
                </a:solidFill>
                <a:latin typeface="Segoe UI"/>
              </a:defRPr>
            </a:pPr>
            <a:r>
              <a:t>• Automated Verification: </a:t>
            </a:r>
            <a:r>
              <a:rPr sz="1000" b="0">
                <a:solidFill>
                  <a:srgbClr val="F4EFE6"/>
                </a:solidFill>
                <a:latin typeface="Segoe UI"/>
              </a:rPr>
              <a:t>Face recognition automates student identity verification while reducing dependence on tedious manual roll-calls.</a:t>
            </a:r>
          </a:p>
          <a:p>
            <a:pPr>
              <a:spcAft>
                <a:spcPts val="600"/>
              </a:spcAft>
              <a:defRPr sz="1050" b="1">
                <a:solidFill>
                  <a:srgbClr val="99B3C6"/>
                </a:solidFill>
                <a:latin typeface="Segoe UI"/>
              </a:defRPr>
            </a:pPr>
            <a:r>
              <a:t>• Operational Reliability: </a:t>
            </a:r>
            <a:r>
              <a:rPr sz="1000" b="0">
                <a:solidFill>
                  <a:srgbClr val="F4EFE6"/>
                </a:solidFill>
                <a:latin typeface="Segoe UI"/>
              </a:rPr>
              <a:t>Maintains high operational reliability with instantaneous manual roll-call fallback for uninterrupted classroom flow.</a:t>
            </a:r>
          </a:p>
          <a:p>
            <a:pPr>
              <a:spcAft>
                <a:spcPts val="600"/>
              </a:spcAft>
              <a:defRPr sz="1050" b="1">
                <a:solidFill>
                  <a:srgbClr val="99B3C6"/>
                </a:solidFill>
                <a:latin typeface="Segoe UI"/>
              </a:defRPr>
            </a:pPr>
            <a:r>
              <a:t>• Practical Problem Solving: </a:t>
            </a:r>
            <a:r>
              <a:rPr sz="1000" b="0">
                <a:solidFill>
                  <a:srgbClr val="F4EFE6"/>
                </a:solidFill>
                <a:latin typeface="Segoe UI"/>
              </a:rPr>
              <a:t>Demonstrates how modern emerging technologies can be applied effectively to solve practical educational administration challenges.</a:t>
            </a:r>
          </a:p>
          <a:p>
            <a:pPr>
              <a:spcAft>
                <a:spcPts val="600"/>
              </a:spcAft>
              <a:defRPr sz="1050" b="1">
                <a:solidFill>
                  <a:srgbClr val="99B3C6"/>
                </a:solidFill>
                <a:latin typeface="Segoe UI"/>
              </a:defRPr>
            </a:pPr>
            <a:r>
              <a:t>• Extensible Foundation: </a:t>
            </a:r>
            <a:r>
              <a:rPr sz="1000" b="0">
                <a:solidFill>
                  <a:srgbClr val="F4EFE6"/>
                </a:solidFill>
                <a:latin typeface="Segoe UI"/>
              </a:rPr>
              <a:t>Establishes a solid, scalable architectural foundation for further development in intelligent academic campus management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3870655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63840" y="1691640"/>
            <a:ext cx="3322015" cy="1280160"/>
          </a:xfrm>
          <a:prstGeom prst="roundRect">
            <a:avLst/>
          </a:prstGeom>
          <a:solidFill>
            <a:srgbClr val="1E2422"/>
          </a:solidFill>
          <a:ln w="19050">
            <a:solidFill>
              <a:srgbClr val="6F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52400" rtlCol="0" anchor="ctr"/>
          <a:lstStyle/>
          <a:p>
            <a:pPr algn="ctr">
              <a:defRPr sz="2800" b="1">
                <a:solidFill>
                  <a:srgbClr val="6FA574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95B290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54680"/>
            <a:ext cx="3322015" cy="2788920"/>
          </a:xfrm>
          <a:prstGeom prst="roundRect">
            <a:avLst/>
          </a:prstGeom>
          <a:solidFill>
            <a:srgbClr val="1E2422"/>
          </a:solidFill>
          <a:ln>
            <a:solidFill>
              <a:srgbClr val="38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3291840"/>
            <a:ext cx="1371600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5B290"/>
                </a:solidFill>
                <a:latin typeface="Segoe UI"/>
              </a:defRPr>
            </a:pPr>
            <a:r>
              <a:t>Presented by:</a:t>
            </a:r>
          </a:p>
          <a:p>
            <a:pPr>
              <a:spcAft>
                <a:spcPts val="400"/>
              </a:spcAft>
              <a:defRPr sz="1000" b="1">
                <a:solidFill>
                  <a:srgbClr val="95B290"/>
                </a:solidFill>
                <a:latin typeface="Segoe UI"/>
              </a:defRPr>
            </a:pPr>
            <a:r>
              <a:t>Class / Branch:</a:t>
            </a:r>
          </a:p>
          <a:p>
            <a:pPr>
              <a:spcAft>
                <a:spcPts val="400"/>
              </a:spcAft>
              <a:defRPr sz="1000" b="1">
                <a:solidFill>
                  <a:srgbClr val="95B290"/>
                </a:solidFill>
                <a:latin typeface="Segoe UI"/>
              </a:defRPr>
            </a:pPr>
            <a:r>
              <a:t>Enrollment No.:</a:t>
            </a:r>
          </a:p>
          <a:p>
            <a:pPr>
              <a:spcAft>
                <a:spcPts val="400"/>
              </a:spcAft>
              <a:defRPr sz="1000" b="1">
                <a:solidFill>
                  <a:srgbClr val="95B290"/>
                </a:solidFill>
                <a:latin typeface="Segoe UI"/>
              </a:defRPr>
            </a:pPr>
            <a:r>
              <a:t>Subject:</a:t>
            </a:r>
          </a:p>
          <a:p>
            <a:pPr>
              <a:spcAft>
                <a:spcPts val="400"/>
              </a:spcAft>
              <a:defRPr sz="1000" b="1">
                <a:solidFill>
                  <a:srgbClr val="95B290"/>
                </a:solidFill>
                <a:latin typeface="Segoe UI"/>
              </a:defRPr>
            </a:pPr>
            <a:r>
              <a:t>Project:</a:t>
            </a:r>
          </a:p>
          <a:p>
            <a:pPr>
              <a:spcAft>
                <a:spcPts val="400"/>
              </a:spcAft>
              <a:defRPr sz="1000" b="1">
                <a:solidFill>
                  <a:srgbClr val="95B290"/>
                </a:solidFill>
                <a:latin typeface="Segoe UI"/>
              </a:defRPr>
            </a:pPr>
            <a:r>
              <a:t>Status: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291840"/>
            <a:ext cx="1645920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4EFE6"/>
                </a:solidFill>
                <a:latin typeface="Segoe UI"/>
              </a:defRPr>
            </a:pPr>
            <a:r>
              <a:t>Vishal Yadav</a:t>
            </a:r>
          </a:p>
          <a:p>
            <a:pPr>
              <a:spcAft>
                <a:spcPts val="400"/>
              </a:spcAft>
              <a:defRPr sz="1000" b="0">
                <a:solidFill>
                  <a:srgbClr val="F4EFE6"/>
                </a:solidFill>
                <a:latin typeface="Segoe UI"/>
              </a:defRPr>
            </a:pPr>
            <a:r>
              <a:t>CO5K (Computer)</a:t>
            </a:r>
          </a:p>
          <a:p>
            <a:pPr>
              <a:spcAft>
                <a:spcPts val="400"/>
              </a:spcAft>
              <a:defRPr sz="1000" b="1">
                <a:solidFill>
                  <a:srgbClr val="F4EFE6"/>
                </a:solidFill>
                <a:latin typeface="Segoe UI"/>
              </a:defRPr>
            </a:pPr>
            <a:r>
              <a:t>________________</a:t>
            </a:r>
          </a:p>
          <a:p>
            <a:pPr>
              <a:spcAft>
                <a:spcPts val="400"/>
              </a:spcAft>
              <a:defRPr sz="1000" b="0">
                <a:solidFill>
                  <a:srgbClr val="F4EFE6"/>
                </a:solidFill>
                <a:latin typeface="Segoe UI"/>
              </a:defRPr>
            </a:pPr>
            <a:r>
              <a:t>SPI (Emerging Trends)</a:t>
            </a:r>
          </a:p>
          <a:p>
            <a:pPr>
              <a:spcAft>
                <a:spcPts val="400"/>
              </a:spcAft>
              <a:defRPr sz="1000" b="0">
                <a:solidFill>
                  <a:srgbClr val="F4EFE6"/>
                </a:solidFill>
                <a:latin typeface="Segoe UI"/>
              </a:defRPr>
            </a:pPr>
            <a:r>
              <a:t>SAMS Platform</a:t>
            </a:r>
          </a:p>
          <a:p>
            <a:pPr>
              <a:spcAft>
                <a:spcPts val="400"/>
              </a:spcAft>
              <a:defRPr sz="1000" b="0">
                <a:solidFill>
                  <a:srgbClr val="F4EFE6"/>
                </a:solidFill>
                <a:latin typeface="Segoe UI"/>
              </a:defRPr>
            </a:pPr>
            <a:r>
              <a:t>SPI Completed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54864"/>
          </a:xfrm>
          <a:prstGeom prst="rect">
            <a:avLst/>
          </a:prstGeom>
          <a:solidFill>
            <a:srgbClr val="95B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8A9992"/>
                </a:solidFill>
                <a:latin typeface="Segoe UI"/>
              </a:defRPr>
            </a:pPr>
            <a:r>
              <a:t>Student Attendance Management System (SAMS)  |  Seminar &amp; Project Initiation (CO5K)  |  Vishal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5B290"/>
                </a:solidFill>
                <a:latin typeface="Segoe UI"/>
              </a:defRPr>
            </a:pPr>
            <a:r>
              <a:t>14. REFERENCES</a:t>
            </a:r>
          </a:p>
          <a:p>
            <a:pPr>
              <a:defRPr sz="2200" b="1">
                <a:solidFill>
                  <a:srgbClr val="F4EFE6"/>
                </a:solidFill>
                <a:latin typeface="Segoe UI"/>
              </a:defRPr>
            </a:pPr>
            <a:r>
              <a:t>14. References</a:t>
            </a:r>
          </a:p>
          <a:p>
            <a:pPr>
              <a:spcBef>
                <a:spcPts val="200"/>
              </a:spcBef>
              <a:defRPr sz="1100">
                <a:solidFill>
                  <a:srgbClr val="CBD4CF"/>
                </a:solidFill>
                <a:latin typeface="Segoe UI"/>
              </a:defRPr>
            </a:pPr>
            <a:r>
              <a:t>Official Technical Documentation &amp; Academic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5B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95B290"/>
                </a:solidFill>
                <a:latin typeface="Segoe UI"/>
              </a:defRPr>
            </a:pPr>
            <a:r>
              <a:t>OFFICIAL TECHNOLOGY DOCUMENTATION</a:t>
            </a:r>
          </a:p>
          <a:p>
            <a:pPr>
              <a:spcAft>
                <a:spcPts val="5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Exadel CompreFace Documentation</a:t>
            </a:r>
            <a:br/>
            <a:r>
              <a:t>  Open-source facial recognition service via REST API.</a:t>
            </a:r>
            <a:br/>
            <a:r>
              <a:t>https://github.com/exadel-inc/CompreFace</a:t>
            </a:r>
          </a:p>
          <a:p>
            <a:pPr>
              <a:spcAft>
                <a:spcPts val="5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PHP 8.2 Official Manual</a:t>
            </a:r>
            <a:br/>
            <a:r>
              <a:t>  Server-side scripting language &amp; PDO database abstraction.</a:t>
            </a:r>
            <a:br/>
            <a:r>
              <a:t>https://www.php.net/docs.php</a:t>
            </a:r>
          </a:p>
          <a:p>
            <a:pPr>
              <a:spcAft>
                <a:spcPts val="5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PostgreSQL 13+ Relational Database</a:t>
            </a:r>
            <a:br/>
            <a:r>
              <a:t>  Official relational database system manual &amp; documentation.</a:t>
            </a:r>
            <a:br/>
            <a:r>
              <a:t>https://www.postgresql.org/docs/</a:t>
            </a:r>
          </a:p>
          <a:p>
            <a:pPr>
              <a:spcAft>
                <a:spcPts val="5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MDN Web Docs (Mozilla Developer Network)</a:t>
            </a:r>
            <a:br/>
            <a:r>
              <a:t>  JavaScript standards, Fetch API, and MediaDevices camera stream.</a:t>
            </a:r>
            <a:br/>
            <a:r>
              <a:t>https://developer.mozilla.org/</a:t>
            </a:r>
          </a:p>
          <a:p>
            <a:pPr>
              <a:spcAft>
                <a:spcPts val="5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Vercel Hosting Documentation</a:t>
            </a:r>
            <a:br/>
            <a:r>
              <a:t>  Global edge static hosting &amp; routing configuration.</a:t>
            </a:r>
            <a:br/>
            <a:r>
              <a:t>https://vercel.com/docs</a:t>
            </a:r>
          </a:p>
          <a:p>
            <a:pPr>
              <a:spcAft>
                <a:spcPts val="5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Render Cloud Application Platform</a:t>
            </a:r>
            <a:br/>
            <a:r>
              <a:t>  Docker container deployment &amp; managed PostgreSQL services.</a:t>
            </a:r>
            <a:br/>
            <a:r>
              <a:t>https://render.com/docs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242B28"/>
          </a:solidFill>
          <a:ln w="12700">
            <a:solidFill>
              <a:srgbClr val="99B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99B3C6"/>
                </a:solidFill>
                <a:latin typeface="Segoe UI"/>
              </a:defRPr>
            </a:pPr>
            <a:r>
              <a:t>ACADEMIC &amp; INDUSTRY STANDARDS</a:t>
            </a:r>
          </a:p>
          <a:p>
            <a:pPr>
              <a:spcAft>
                <a:spcPts val="6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MSBTE Curriculum Manual</a:t>
            </a:r>
            <a:br/>
            <a:r>
              <a:t>  Maharashtra State Board of Technical Education guidelines for Seminar &amp; Project Initiation (SPI) in Computer Engineering (CO5K).</a:t>
            </a:r>
          </a:p>
          <a:p>
            <a:pPr>
              <a:spcAft>
                <a:spcPts val="6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GitHub Version Control Documentation</a:t>
            </a:r>
            <a:br/>
            <a:r>
              <a:t>  Collaborative development, git branching, and repository management.</a:t>
            </a:r>
            <a:br/>
            <a:r>
              <a:t>https://docs.github.com/</a:t>
            </a:r>
          </a:p>
          <a:p>
            <a:pPr>
              <a:spcAft>
                <a:spcPts val="6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Computer Vision &amp; Deep Learning Literature</a:t>
            </a:r>
            <a:br/>
            <a:r>
              <a:t>  Research publications on Deep Facial Recognition, landmark vector representations, and convolutional neural networks.</a:t>
            </a:r>
          </a:p>
          <a:p>
            <a:pPr>
              <a:spcAft>
                <a:spcPts val="6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OWASP Web Security Standards</a:t>
            </a:r>
            <a:br/>
            <a:r>
              <a:t>  Open Web Application Security Project guidelines for session management, prepared SQL queries, and input validation.</a:t>
            </a:r>
          </a:p>
          <a:p>
            <a:pPr>
              <a:spcAft>
                <a:spcPts val="600"/>
              </a:spcAft>
              <a:defRPr sz="950">
                <a:solidFill>
                  <a:srgbClr val="F4EFE6"/>
                </a:solidFill>
                <a:latin typeface="Segoe UI"/>
              </a:defRPr>
            </a:pPr>
            <a:r>
              <a:t>• Cloud Computing in Education</a:t>
            </a:r>
            <a:br/>
            <a:r>
              <a:t>  Academic literature and IEEE conference papers on digital campus automation and attendance management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3197</Words>
  <Application>Microsoft Office PowerPoint</Application>
  <PresentationFormat>Widescreen</PresentationFormat>
  <Paragraphs>347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Neue Haas Grotesk Text Pro</vt:lpstr>
      <vt:lpstr>Segoe UI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Yadav</cp:lastModifiedBy>
  <cp:revision>3</cp:revision>
  <dcterms:created xsi:type="dcterms:W3CDTF">2013-01-27T09:14:16Z</dcterms:created>
  <dcterms:modified xsi:type="dcterms:W3CDTF">2026-09-23T09:04:42Z</dcterms:modified>
  <cp:category/>
</cp:coreProperties>
</file>